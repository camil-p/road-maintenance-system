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"/>
      <p:bold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b82b05132_0_5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b82b05132_0_17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b82b05132_0_50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b9b0d7aad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b9b0d7aad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b9b0d7aad_0_25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b9b0d7aad_0_9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b9b0d7aad_0_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b9b0d7aad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b9b0d7aad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b9b0d7aad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b9b0d7aad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b9b0d7aad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b9b0d7aad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b9b0d7aad_0_77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b9b0d7aad_0_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b9b0d7aad_0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be2fb7756_0_6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be2fb7756_8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dbe2fb7756_8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be2fb7756_8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dbe2fb7756_8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be2fb7756_8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dbe2fb7756_8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be2fb7756_8_49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b82b05132_9_0)">
  <p:cSld name="Generated (g3db82b05132_9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10.jpg"/><Relationship Id="rId7" Type="http://schemas.openxmlformats.org/officeDocument/2006/relationships/image" Target="../media/image1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QRYSGWxTlBSWNvpCXKZvyttzrgLXzo2r/view" TargetMode="External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1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oMVW_zBN1gX8ZkOOShYIMGn-u9e4THm8/view" TargetMode="External"/><Relationship Id="rId4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5.png"/><Relationship Id="rId5" Type="http://schemas.openxmlformats.org/officeDocument/2006/relationships/image" Target="../media/image9.jpg"/><Relationship Id="rId6" Type="http://schemas.openxmlformats.org/officeDocument/2006/relationships/image" Target="../media/image2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5.png"/><Relationship Id="rId5" Type="http://schemas.openxmlformats.org/officeDocument/2006/relationships/image" Target="../media/image53.jpg"/><Relationship Id="rId6" Type="http://schemas.openxmlformats.org/officeDocument/2006/relationships/image" Target="../media/image2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5.png"/><Relationship Id="rId5" Type="http://schemas.openxmlformats.org/officeDocument/2006/relationships/image" Target="../media/image3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5.png"/><Relationship Id="rId5" Type="http://schemas.openxmlformats.org/officeDocument/2006/relationships/image" Target="../media/image3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5.png"/><Relationship Id="rId5" Type="http://schemas.openxmlformats.org/officeDocument/2006/relationships/image" Target="../media/image25.png"/><Relationship Id="rId6" Type="http://schemas.openxmlformats.org/officeDocument/2006/relationships/image" Target="../media/image3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9" Type="http://schemas.openxmlformats.org/officeDocument/2006/relationships/image" Target="../media/image21.jpg"/><Relationship Id="rId5" Type="http://schemas.openxmlformats.org/officeDocument/2006/relationships/image" Target="../media/image5.png"/><Relationship Id="rId6" Type="http://schemas.openxmlformats.org/officeDocument/2006/relationships/image" Target="../media/image34.png"/><Relationship Id="rId7" Type="http://schemas.openxmlformats.org/officeDocument/2006/relationships/image" Target="../media/image9.jpg"/><Relationship Id="rId8" Type="http://schemas.openxmlformats.org/officeDocument/2006/relationships/image" Target="../media/image3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5.png"/><Relationship Id="rId5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5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3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" y="0"/>
            <a:ext cx="90012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>
            <a:off x="476250" y="1524000"/>
            <a:ext cx="30480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/>
        </p:nvSpPr>
        <p:spPr>
          <a:xfrm>
            <a:off x="476250" y="1714500"/>
            <a:ext cx="3048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75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Pametni sistem za prijavu i upravljanje održavanjem puteva</a:t>
            </a:r>
            <a:endParaRPr b="1" sz="2375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476250" y="314325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60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Od prijave rupe do završenog radnog naloga.</a:t>
            </a:r>
            <a:endParaRPr b="0" sz="1260">
              <a:solidFill>
                <a:srgbClr val="FF6B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>
            <a:off x="404813" y="3662363"/>
            <a:ext cx="3190800" cy="1000200"/>
            <a:chOff x="404813" y="3662363"/>
            <a:chExt cx="3190800" cy="1000200"/>
          </a:xfrm>
        </p:grpSpPr>
        <p:pic>
          <p:nvPicPr>
            <p:cNvPr id="60" name="Google Shape;60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4813" y="3662363"/>
              <a:ext cx="3190800" cy="10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14"/>
            <p:cNvSpPr txBox="1"/>
            <p:nvPr/>
          </p:nvSpPr>
          <p:spPr>
            <a:xfrm>
              <a:off x="619125" y="3810000"/>
              <a:ext cx="2762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8638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4A4A4A"/>
                </a:buClr>
                <a:buSzPts val="910"/>
                <a:buFont typeface="Roboto"/>
                <a:buChar char="●"/>
              </a:pPr>
              <a:r>
                <a:rPr b="0" lang="en" sz="910">
                  <a:solidFill>
                    <a:srgbClr val="4A4A4A"/>
                  </a:solidFill>
                  <a:latin typeface="Roboto"/>
                  <a:ea typeface="Roboto"/>
                  <a:cs typeface="Roboto"/>
                  <a:sym typeface="Roboto"/>
                </a:rPr>
                <a:t>Povezujemo građane i putarske službe u jedinstven tok rada.</a:t>
              </a:r>
              <a:endParaRPr b="0" sz="910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8638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A4A4A"/>
                </a:buClr>
                <a:buSzPts val="910"/>
                <a:buFont typeface="Roboto"/>
                <a:buChar char="●"/>
              </a:pPr>
              <a:r>
                <a:rPr b="0" lang="en" sz="910">
                  <a:solidFill>
                    <a:srgbClr val="4A4A4A"/>
                  </a:solidFill>
                  <a:latin typeface="Roboto"/>
                  <a:ea typeface="Roboto"/>
                  <a:cs typeface="Roboto"/>
                  <a:sym typeface="Roboto"/>
                </a:rPr>
                <a:t>Brža reakcija, manje papira, više kontrole nad terenima.</a:t>
              </a:r>
              <a:endParaRPr b="0" sz="910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62" name="Google Shape;6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0" y="43815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title="MainMap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04475" y="474975"/>
            <a:ext cx="2062699" cy="4193548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" y="0"/>
            <a:ext cx="9001200" cy="3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" name="Google Shape;69;p15"/>
          <p:cNvGrpSpPr/>
          <p:nvPr/>
        </p:nvGrpSpPr>
        <p:grpSpPr>
          <a:xfrm>
            <a:off x="476250" y="762000"/>
            <a:ext cx="8191500" cy="1000275"/>
            <a:chOff x="476250" y="762000"/>
            <a:chExt cx="8191500" cy="1000275"/>
          </a:xfrm>
        </p:grpSpPr>
        <p:sp>
          <p:nvSpPr>
            <p:cNvPr id="70" name="Google Shape;70;p15"/>
            <p:cNvSpPr/>
            <p:nvPr/>
          </p:nvSpPr>
          <p:spPr>
            <a:xfrm>
              <a:off x="476250" y="762000"/>
              <a:ext cx="4000500" cy="38100"/>
            </a:xfrm>
            <a:prstGeom prst="rect">
              <a:avLst/>
            </a:prstGeom>
            <a:solidFill>
              <a:srgbClr val="FF6B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 txBox="1"/>
            <p:nvPr/>
          </p:nvSpPr>
          <p:spPr>
            <a:xfrm>
              <a:off x="476250" y="95250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Kako danas izgleda održavanje puteva?</a:t>
              </a:r>
              <a:endParaRPr b="1" sz="28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476250" y="1476375"/>
              <a:ext cx="819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6B00"/>
                  </a:solidFill>
                  <a:latin typeface="Roboto"/>
                  <a:ea typeface="Roboto"/>
                  <a:cs typeface="Roboto"/>
                  <a:sym typeface="Roboto"/>
                </a:rPr>
                <a:t>Trenutni izazovi u procesu rada</a:t>
              </a:r>
              <a:endParaRPr b="0" sz="1400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3" name="Google Shape;73;p15"/>
          <p:cNvGrpSpPr/>
          <p:nvPr/>
        </p:nvGrpSpPr>
        <p:grpSpPr>
          <a:xfrm>
            <a:off x="476250" y="2000250"/>
            <a:ext cx="8191425" cy="2286150"/>
            <a:chOff x="476250" y="2000250"/>
            <a:chExt cx="8191425" cy="2286150"/>
          </a:xfrm>
        </p:grpSpPr>
        <p:sp>
          <p:nvSpPr>
            <p:cNvPr id="74" name="Google Shape;74;p15"/>
            <p:cNvSpPr/>
            <p:nvPr/>
          </p:nvSpPr>
          <p:spPr>
            <a:xfrm>
              <a:off x="476250" y="2000250"/>
              <a:ext cx="39528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666750" y="2184019"/>
              <a:ext cx="428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FF6B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phone_callback</a:t>
              </a:r>
              <a:endParaRPr sz="2800">
                <a:solidFill>
                  <a:srgbClr val="FF6B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1190625" y="2143125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Haotična komunikacija</a:t>
              </a:r>
              <a:endParaRPr b="1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A4A4A"/>
                  </a:solidFill>
                  <a:latin typeface="Roboto"/>
                  <a:ea typeface="Roboto"/>
                  <a:cs typeface="Roboto"/>
                  <a:sym typeface="Roboto"/>
                </a:rPr>
                <a:t>Prijave građana preko telefona, poruka, ili „preko veze“.</a:t>
              </a:r>
              <a:endParaRPr sz="1200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4714875" y="2000250"/>
              <a:ext cx="39528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 txBox="1"/>
            <p:nvPr/>
          </p:nvSpPr>
          <p:spPr>
            <a:xfrm>
              <a:off x="4905375" y="2184019"/>
              <a:ext cx="428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FF6B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assignment_late</a:t>
              </a:r>
              <a:endParaRPr sz="2800">
                <a:solidFill>
                  <a:srgbClr val="FF6B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5429250" y="2143125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Teško praćenje statusa</a:t>
              </a:r>
              <a:endParaRPr b="1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A4A4A"/>
                  </a:solidFill>
                  <a:latin typeface="Roboto"/>
                  <a:ea typeface="Roboto"/>
                  <a:cs typeface="Roboto"/>
                  <a:sym typeface="Roboto"/>
                </a:rPr>
                <a:t>Nepoznanice: šta je prijavljeno, ko je na terenu, šta je urađeno.</a:t>
              </a:r>
              <a:endParaRPr sz="1200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476250" y="3238500"/>
              <a:ext cx="39528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 txBox="1"/>
            <p:nvPr/>
          </p:nvSpPr>
          <p:spPr>
            <a:xfrm>
              <a:off x="666750" y="3422269"/>
              <a:ext cx="428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FF6B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wrong_location</a:t>
              </a:r>
              <a:endParaRPr sz="2800">
                <a:solidFill>
                  <a:srgbClr val="FF6B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1190625" y="3381375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Slepilo na terenu</a:t>
              </a:r>
              <a:endParaRPr b="1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A4A4A"/>
                  </a:solidFill>
                  <a:latin typeface="Roboto"/>
                  <a:ea typeface="Roboto"/>
                  <a:cs typeface="Roboto"/>
                  <a:sym typeface="Roboto"/>
                </a:rPr>
                <a:t>Nedostatak jasne slike na mapi – gde su problemi i ekipe.</a:t>
              </a:r>
              <a:endParaRPr sz="1200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4714875" y="3238500"/>
              <a:ext cx="3952800" cy="10479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4905375" y="3422269"/>
              <a:ext cx="428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FF6B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assessment</a:t>
              </a:r>
              <a:endParaRPr sz="2800">
                <a:solidFill>
                  <a:srgbClr val="FF6B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5429250" y="3381375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Kompleksno izveštavanje</a:t>
              </a:r>
              <a:endParaRPr b="1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A4A4A"/>
                  </a:solidFill>
                  <a:latin typeface="Roboto"/>
                  <a:ea typeface="Roboto"/>
                  <a:cs typeface="Roboto"/>
                  <a:sym typeface="Roboto"/>
                </a:rPr>
                <a:t>Teško pravljenje izveštaja za opštinu i nadležne organe.</a:t>
              </a:r>
              <a:endParaRPr sz="1200">
                <a:solidFill>
                  <a:srgbClr val="4A4A4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86" name="Google Shape;8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0" y="190500"/>
            <a:ext cx="1524000" cy="1390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</p:pic>
      <p:sp>
        <p:nvSpPr>
          <p:cNvPr id="87" name="Google Shape;87;p15"/>
          <p:cNvSpPr txBox="1"/>
          <p:nvPr/>
        </p:nvSpPr>
        <p:spPr>
          <a:xfrm>
            <a:off x="4953000" y="666750"/>
            <a:ext cx="3810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0" lIns="381000" spcFirstLastPara="1" rIns="381000" wrap="square" tIns="381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50">
              <a:solidFill>
                <a:srgbClr val="ADB5B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8" name="Google Shape;8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0" y="4381500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875" y="0"/>
            <a:ext cx="90012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0" y="4381500"/>
            <a:ext cx="762000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16"/>
          <p:cNvGrpSpPr/>
          <p:nvPr/>
        </p:nvGrpSpPr>
        <p:grpSpPr>
          <a:xfrm>
            <a:off x="476250" y="762000"/>
            <a:ext cx="8191500" cy="762000"/>
            <a:chOff x="476250" y="762000"/>
            <a:chExt cx="8191500" cy="762000"/>
          </a:xfrm>
        </p:grpSpPr>
        <p:sp>
          <p:nvSpPr>
            <p:cNvPr id="96" name="Google Shape;96;p16"/>
            <p:cNvSpPr/>
            <p:nvPr/>
          </p:nvSpPr>
          <p:spPr>
            <a:xfrm>
              <a:off x="476250" y="762000"/>
              <a:ext cx="4000500" cy="38100"/>
            </a:xfrm>
            <a:prstGeom prst="rect">
              <a:avLst/>
            </a:prstGeom>
            <a:solidFill>
              <a:srgbClr val="FF6B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6"/>
            <p:cNvSpPr txBox="1"/>
            <p:nvPr/>
          </p:nvSpPr>
          <p:spPr>
            <a:xfrm>
              <a:off x="476250" y="95250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59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Jedna mapa. Jedan sistem. Svi tokovi pod kontrolom.</a:t>
              </a:r>
              <a:endParaRPr b="1" sz="259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8" name="Google Shape;98;p16"/>
          <p:cNvSpPr txBox="1"/>
          <p:nvPr/>
        </p:nvSpPr>
        <p:spPr>
          <a:xfrm>
            <a:off x="476250" y="1714500"/>
            <a:ext cx="42864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Građani prijavljuju probleme direktno sa terena, uz lokaciju i fotografiju.</a:t>
            </a:r>
            <a:endParaRPr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15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Dispečer i menadžeri sve prijave vide u realnom vremenu, na mapi.</a:t>
            </a:r>
            <a:endParaRPr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15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Ekipe dobijaju jasne radne naloge, sa statusima i prioritetima.</a:t>
            </a:r>
            <a:endParaRPr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15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Direktori dobijaju pregled – KPI, troškove, „hotspot“ zone i istoriju radova.</a:t>
            </a:r>
            <a:endParaRPr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9" name="Google Shape;99;p16" title="MainMap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54700" y="1637925"/>
            <a:ext cx="14055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6" title="Report_Incident.jpe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18350" y="1639750"/>
            <a:ext cx="1405524" cy="285386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7" title="EntireFlow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" y="0"/>
            <a:ext cx="90012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0" y="43815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/>
          <p:nvPr/>
        </p:nvSpPr>
        <p:spPr>
          <a:xfrm>
            <a:off x="476250" y="762000"/>
            <a:ext cx="40005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476250" y="952500"/>
            <a:ext cx="8191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Kako građanin prijavi problem na putu</a:t>
            </a:r>
            <a:endParaRPr b="1" sz="26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476250" y="1381125"/>
            <a:ext cx="8191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Pogled građanina: prijava za 30 sekundi (/map)</a:t>
            </a:r>
            <a:endParaRPr b="0" sz="1400">
              <a:solidFill>
                <a:srgbClr val="FF6B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476250" y="1905000"/>
            <a:ext cx="42864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Roboto"/>
              <a:buChar char="●"/>
            </a:pP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Otvara aplikaciju i vidi mapu sa trenutnim radovima i upozorenjima.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Roboto"/>
              <a:buChar char="●"/>
            </a:pP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Dodirom na mapu bira lokaciju ili koristi GPS trenutne pozicije.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Roboto"/>
              <a:buChar char="●"/>
            </a:pP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Bira vrstu problema (rupa, klizište, znak, rasveta…) i dodaje fotografiju.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1200"/>
              </a:spcAft>
              <a:buClr>
                <a:srgbClr val="1A1A1A"/>
              </a:buClr>
              <a:buSzPts val="1300"/>
              <a:buFont typeface="Roboto"/>
              <a:buChar char="●"/>
            </a:pP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Prijava odlazi direktno vašem preduzeću koje je nadležno za tu lokaciju.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p18" title="Report_Inciden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4029" y="952500"/>
            <a:ext cx="1722550" cy="349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 title="DriverAndPedestrian_reportIncident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25" y="0"/>
            <a:ext cx="911034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/>
          <p:nvPr/>
        </p:nvSpPr>
        <p:spPr>
          <a:xfrm>
            <a:off x="142875" y="0"/>
            <a:ext cx="9001200" cy="381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0" y="43815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/>
          <p:nvPr/>
        </p:nvSpPr>
        <p:spPr>
          <a:xfrm>
            <a:off x="476250" y="762000"/>
            <a:ext cx="40005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20"/>
          <p:cNvGrpSpPr/>
          <p:nvPr/>
        </p:nvGrpSpPr>
        <p:grpSpPr>
          <a:xfrm>
            <a:off x="476250" y="952500"/>
            <a:ext cx="8191500" cy="809775"/>
            <a:chOff x="476250" y="952500"/>
            <a:chExt cx="8191500" cy="809775"/>
          </a:xfrm>
        </p:grpSpPr>
        <p:sp>
          <p:nvSpPr>
            <p:cNvPr id="130" name="Google Shape;130;p20"/>
            <p:cNvSpPr txBox="1"/>
            <p:nvPr/>
          </p:nvSpPr>
          <p:spPr>
            <a:xfrm>
              <a:off x="476250" y="95250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5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Mapa za građane – stanje na putevima u realnom vremenu</a:t>
              </a:r>
              <a:endParaRPr b="1" sz="2405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" name="Google Shape;131;p20"/>
            <p:cNvSpPr txBox="1"/>
            <p:nvPr/>
          </p:nvSpPr>
          <p:spPr>
            <a:xfrm>
              <a:off x="476250" y="1476375"/>
              <a:ext cx="819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6B00"/>
                  </a:solidFill>
                  <a:latin typeface="Roboto"/>
                  <a:ea typeface="Roboto"/>
                  <a:cs typeface="Roboto"/>
                  <a:sym typeface="Roboto"/>
                </a:rPr>
                <a:t>Građanska mapa i transparentnost</a:t>
              </a:r>
              <a:endParaRPr b="0" sz="1400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2" name="Google Shape;132;p20"/>
          <p:cNvSpPr txBox="1"/>
          <p:nvPr/>
        </p:nvSpPr>
        <p:spPr>
          <a:xfrm>
            <a:off x="476250" y="2000250"/>
            <a:ext cx="42864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Roboto"/>
              <a:buChar char="●"/>
            </a:pP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Građani vide gde su radovi, privremene zabrane i rizične deonice.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15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Roboto"/>
              <a:buChar char="●"/>
            </a:pP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Mogu da prate status svojih prijava (primljeno, u obradi, rešeno).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15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Roboto"/>
              <a:buChar char="●"/>
            </a:pP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Manje poziva ka preduzeću – više informacija dostupno odmah, vizuelno.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3" name="Google Shape;133;p20" title="Live_Incidents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3297" y="1468992"/>
            <a:ext cx="1759025" cy="3571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0" title="ViewReportedIncidents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93725" y="1469000"/>
            <a:ext cx="1759025" cy="3571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142875" y="0"/>
            <a:ext cx="9001200" cy="381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0" y="43815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/>
          <p:nvPr/>
        </p:nvSpPr>
        <p:spPr>
          <a:xfrm>
            <a:off x="476250" y="762000"/>
            <a:ext cx="40005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" name="Google Shape;142;p21"/>
          <p:cNvGrpSpPr/>
          <p:nvPr/>
        </p:nvGrpSpPr>
        <p:grpSpPr>
          <a:xfrm>
            <a:off x="476250" y="952500"/>
            <a:ext cx="8191500" cy="762150"/>
            <a:chOff x="476250" y="952500"/>
            <a:chExt cx="8191500" cy="762150"/>
          </a:xfrm>
        </p:grpSpPr>
        <p:sp>
          <p:nvSpPr>
            <p:cNvPr id="143" name="Google Shape;143;p21"/>
            <p:cNvSpPr txBox="1"/>
            <p:nvPr/>
          </p:nvSpPr>
          <p:spPr>
            <a:xfrm>
              <a:off x="476250" y="952500"/>
              <a:ext cx="8191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Dispečerski ekran – sve prijave na jednoj mapi</a:t>
              </a:r>
              <a:endParaRPr b="1" sz="2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4" name="Google Shape;144;p21"/>
            <p:cNvSpPr txBox="1"/>
            <p:nvPr/>
          </p:nvSpPr>
          <p:spPr>
            <a:xfrm>
              <a:off x="476250" y="1428750"/>
              <a:ext cx="819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FF6B00"/>
                  </a:solidFill>
                  <a:latin typeface="Roboto"/>
                  <a:ea typeface="Roboto"/>
                  <a:cs typeface="Roboto"/>
                  <a:sym typeface="Roboto"/>
                </a:rPr>
                <a:t>Centralni pregled prijava</a:t>
              </a:r>
              <a:endParaRPr sz="1400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5" name="Google Shape;145;p21"/>
          <p:cNvSpPr txBox="1"/>
          <p:nvPr/>
        </p:nvSpPr>
        <p:spPr>
          <a:xfrm>
            <a:off x="476250" y="2000250"/>
            <a:ext cx="40005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3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en" sz="1203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3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Sve prijave iz vašeg regiona ulaze u jednu listu, uz prikaz na mapi.</a:t>
            </a:r>
            <a:endParaRPr sz="1203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203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en" sz="1203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3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Filtriranje po prioritetu (hitno, visoko, normalno, nisko) i tipu problema.</a:t>
            </a:r>
            <a:endParaRPr sz="1203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203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en" sz="1203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3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U svakom trenutku vidite gde se problem nalazi i koliko je slučajeva aktivno.</a:t>
            </a:r>
            <a:endParaRPr sz="1203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A high-resolution dashboard UI screenshot showing a dispatch center screen. On the left, a detailed list of incidents with color-coded priority badges. On the right, a large digital map of a city region with interactive pins representing the same incidents. Clean, professional software interface, light mode." id="146" name="Google Shape;146;p21"/>
          <p:cNvPicPr preferRelativeResize="0"/>
          <p:nvPr/>
        </p:nvPicPr>
        <p:blipFill rotWithShape="1">
          <a:blip r:embed="rId5">
            <a:alphaModFix/>
          </a:blip>
          <a:srcRect b="0" l="3122" r="3131" t="0"/>
          <a:stretch/>
        </p:blipFill>
        <p:spPr>
          <a:xfrm>
            <a:off x="4857750" y="1714500"/>
            <a:ext cx="3810000" cy="2286000"/>
          </a:xfrm>
          <a:prstGeom prst="roundRect">
            <a:avLst>
              <a:gd fmla="val 3333" name="adj"/>
            </a:avLst>
          </a:prstGeom>
          <a:noFill/>
          <a:ln>
            <a:noFill/>
          </a:ln>
        </p:spPr>
      </p:pic>
      <p:sp>
        <p:nvSpPr>
          <p:cNvPr id="147" name="Google Shape;147;p21"/>
          <p:cNvSpPr/>
          <p:nvPr/>
        </p:nvSpPr>
        <p:spPr>
          <a:xfrm>
            <a:off x="4857750" y="1714500"/>
            <a:ext cx="3810000" cy="2286000"/>
          </a:xfrm>
          <a:prstGeom prst="roundRect">
            <a:avLst>
              <a:gd fmla="val 3333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E9E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4857750" y="4143375"/>
            <a:ext cx="3810000" cy="571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43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4857750" y="4143375"/>
            <a:ext cx="381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5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Primljeno</a:t>
            </a:r>
            <a:endParaRPr b="1" sz="475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5">
                <a:solidFill>
                  <a:srgbClr val="FF6B00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arrow_forward</a:t>
            </a:r>
            <a:endParaRPr sz="475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5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U triaži</a:t>
            </a:r>
            <a:endParaRPr b="1" sz="475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5">
                <a:solidFill>
                  <a:srgbClr val="FF6B00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arrow_forward</a:t>
            </a:r>
            <a:endParaRPr sz="475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5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U toku</a:t>
            </a:r>
            <a:endParaRPr b="1" sz="475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5">
                <a:solidFill>
                  <a:srgbClr val="FF6B00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arrow_forward</a:t>
            </a:r>
            <a:endParaRPr sz="475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5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Rešeno</a:t>
            </a:r>
            <a:endParaRPr b="1" sz="475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0" name="Google Shape;150;p21" title="Agency_IncidentList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04977" y="1663075"/>
            <a:ext cx="4515536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875" y="0"/>
            <a:ext cx="90012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0" y="43815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/>
          <p:nvPr/>
        </p:nvSpPr>
        <p:spPr>
          <a:xfrm>
            <a:off x="476250" y="762000"/>
            <a:ext cx="40005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2"/>
          <p:cNvSpPr txBox="1"/>
          <p:nvPr/>
        </p:nvSpPr>
        <p:spPr>
          <a:xfrm>
            <a:off x="476250" y="952500"/>
            <a:ext cx="8191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Radni nalozi – jasan zadatak za svaku ekipu</a:t>
            </a:r>
            <a:endParaRPr b="1" sz="26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2"/>
          <p:cNvSpPr txBox="1"/>
          <p:nvPr/>
        </p:nvSpPr>
        <p:spPr>
          <a:xfrm>
            <a:off x="476250" y="1428750"/>
            <a:ext cx="8191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Od prijave do radnog naloga</a:t>
            </a:r>
            <a:endParaRPr b="0" sz="1400">
              <a:solidFill>
                <a:srgbClr val="FF6B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476250" y="1905000"/>
            <a:ext cx="4000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9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Iz svake prijave dispečer jednim klikom kreira radni nalog.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Definiše se opis posla, lokacija, prioritet i rok.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Nalog se dodeljuje konkretnoj ekipi ili vozilu.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Ekipe na terenu vide samo svoje naloge, ažuriraju status i dodaju slike „pre i posle“.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22" title="workorders-final-144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69725" y="1524000"/>
            <a:ext cx="4298026" cy="2764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/>
          <p:nvPr/>
        </p:nvSpPr>
        <p:spPr>
          <a:xfrm>
            <a:off x="142875" y="0"/>
            <a:ext cx="9001200" cy="381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0" y="43815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3"/>
          <p:cNvSpPr/>
          <p:nvPr/>
        </p:nvSpPr>
        <p:spPr>
          <a:xfrm>
            <a:off x="476250" y="762000"/>
            <a:ext cx="40005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3"/>
          <p:cNvSpPr txBox="1"/>
          <p:nvPr/>
        </p:nvSpPr>
        <p:spPr>
          <a:xfrm>
            <a:off x="476250" y="9525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Gde su vozila i ekipe</a:t>
            </a:r>
            <a:endParaRPr b="1" sz="26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– uvek na mapi</a:t>
            </a:r>
            <a:endParaRPr b="1" sz="26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476250" y="1428750"/>
            <a:ext cx="8191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6B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Mapa flote i resursa</a:t>
            </a:r>
            <a:endParaRPr b="0" sz="1400">
              <a:solidFill>
                <a:srgbClr val="FF6B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3"/>
          <p:cNvSpPr txBox="1"/>
          <p:nvPr/>
        </p:nvSpPr>
        <p:spPr>
          <a:xfrm>
            <a:off x="476250" y="2000250"/>
            <a:ext cx="40005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• Mapa flote prikazuje gde se nalaze vaša vozila u realnom vremenu.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• Vidite koja ekipa je najbliža novom problemu i koliko joj treba do lokacije.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• Tabele resursa: vozila, radnici, oprema i materijal – sa osnovnim podacima i statusom.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23" title="Agency_resourceManagemen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753" y="1128600"/>
            <a:ext cx="4657748" cy="229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/>
          <p:nvPr/>
        </p:nvSpPr>
        <p:spPr>
          <a:xfrm>
            <a:off x="142875" y="0"/>
            <a:ext cx="9001200" cy="381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0" y="43815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4"/>
          <p:cNvSpPr/>
          <p:nvPr/>
        </p:nvSpPr>
        <p:spPr>
          <a:xfrm>
            <a:off x="476250" y="762000"/>
            <a:ext cx="40005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" name="Google Shape;179;p24"/>
          <p:cNvGrpSpPr/>
          <p:nvPr/>
        </p:nvGrpSpPr>
        <p:grpSpPr>
          <a:xfrm>
            <a:off x="476250" y="952500"/>
            <a:ext cx="8191500" cy="809775"/>
            <a:chOff x="476250" y="952500"/>
            <a:chExt cx="8191500" cy="809775"/>
          </a:xfrm>
        </p:grpSpPr>
        <p:sp>
          <p:nvSpPr>
            <p:cNvPr id="180" name="Google Shape;180;p24"/>
            <p:cNvSpPr txBox="1"/>
            <p:nvPr/>
          </p:nvSpPr>
          <p:spPr>
            <a:xfrm>
              <a:off x="476250" y="952500"/>
              <a:ext cx="819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5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Pregled deonica i istorija radova</a:t>
              </a:r>
              <a:endParaRPr b="1" sz="2405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1" name="Google Shape;181;p24"/>
            <p:cNvSpPr txBox="1"/>
            <p:nvPr/>
          </p:nvSpPr>
          <p:spPr>
            <a:xfrm>
              <a:off x="476250" y="1476375"/>
              <a:ext cx="8191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6B00"/>
                  </a:solidFill>
                  <a:latin typeface="Roboto"/>
                  <a:ea typeface="Roboto"/>
                  <a:cs typeface="Roboto"/>
                  <a:sym typeface="Roboto"/>
                </a:rPr>
                <a:t>Svaka deonica ima svoju „karticu“ i istoriju</a:t>
              </a:r>
              <a:endParaRPr b="0" sz="1400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82" name="Google Shape;182;p24"/>
          <p:cNvSpPr txBox="1"/>
          <p:nvPr/>
        </p:nvSpPr>
        <p:spPr>
          <a:xfrm>
            <a:off x="476250" y="2000250"/>
            <a:ext cx="40959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Roboto"/>
              <a:buChar char="●"/>
            </a:pP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Svaki segment puta ima pregled svih prijava i radova kroz vreme.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1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Roboto"/>
              <a:buChar char="●"/>
            </a:pP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Vidite koliko često se javljaju problemi na istoj lokaciji (rupe, klizišta…).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1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Roboto"/>
              <a:buChar char="●"/>
            </a:pP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Score stanja deonice pomaže da planirate veće zahvate i kapitalne projekte.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3" name="Google Shape;183;p24" title="Agency_WorkSegments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750" y="1557500"/>
            <a:ext cx="4667324" cy="2386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/>
          <p:nvPr/>
        </p:nvSpPr>
        <p:spPr>
          <a:xfrm>
            <a:off x="142875" y="0"/>
            <a:ext cx="9001200" cy="381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0" y="43815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5"/>
          <p:cNvSpPr/>
          <p:nvPr/>
        </p:nvSpPr>
        <p:spPr>
          <a:xfrm>
            <a:off x="476250" y="762000"/>
            <a:ext cx="40005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5"/>
          <p:cNvSpPr txBox="1"/>
          <p:nvPr/>
        </p:nvSpPr>
        <p:spPr>
          <a:xfrm>
            <a:off x="476250" y="9525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Pregled za direktore – KPI i izveštaji na klik</a:t>
            </a:r>
            <a:endParaRPr b="1" sz="26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5"/>
          <p:cNvSpPr txBox="1"/>
          <p:nvPr/>
        </p:nvSpPr>
        <p:spPr>
          <a:xfrm>
            <a:off x="476250" y="1428750"/>
            <a:ext cx="8191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Dashboard i mesečni izveštaji</a:t>
            </a:r>
            <a:endParaRPr b="0" sz="1400">
              <a:solidFill>
                <a:srgbClr val="FF6B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25"/>
          <p:cNvSpPr txBox="1"/>
          <p:nvPr/>
        </p:nvSpPr>
        <p:spPr>
          <a:xfrm>
            <a:off x="476250" y="2000250"/>
            <a:ext cx="3810000" cy="23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b="0" lang="en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Dashboard za menadžere: broj prijava, vreme reakcije, završeni radovi po timovima.</a:t>
            </a:r>
            <a:endParaRPr b="0" sz="12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b="0" lang="en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Uočavanje „hotspot“ zona gde se problemi stalno ponavljaju.</a:t>
            </a:r>
            <a:endParaRPr b="0" sz="12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b="0" lang="en" sz="1200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b="0" lang="en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Jedan klik za generisanje mesečnog izveštaja (A4, PDF) sa svim ključnim brojkama.</a:t>
            </a:r>
            <a:endParaRPr b="0" sz="12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3" name="Google Shape;193;p25"/>
          <p:cNvGrpSpPr/>
          <p:nvPr/>
        </p:nvGrpSpPr>
        <p:grpSpPr>
          <a:xfrm rot="300150">
            <a:off x="6659815" y="2546898"/>
            <a:ext cx="1714516" cy="2286021"/>
            <a:chOff x="0" y="0"/>
            <a:chExt cx="1714500" cy="2286000"/>
          </a:xfrm>
        </p:grpSpPr>
        <p:sp>
          <p:nvSpPr>
            <p:cNvPr id="194" name="Google Shape;194;p25"/>
            <p:cNvSpPr/>
            <p:nvPr/>
          </p:nvSpPr>
          <p:spPr>
            <a:xfrm>
              <a:off x="0" y="0"/>
              <a:ext cx="1714500" cy="2286000"/>
            </a:xfrm>
            <a:prstGeom prst="roundRect">
              <a:avLst>
                <a:gd fmla="val 2222" name="adj"/>
              </a:avLst>
            </a:prstGeom>
            <a:solidFill>
              <a:srgbClr val="FFFFFF"/>
            </a:solidFill>
            <a:ln cap="flat" cmpd="sng" w="9525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5" name="Google Shape;195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1714500" cy="2286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5"/>
            <p:cNvSpPr txBox="1"/>
            <p:nvPr/>
          </p:nvSpPr>
          <p:spPr>
            <a:xfrm>
              <a:off x="0" y="0"/>
              <a:ext cx="1714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ADB5BD"/>
                  </a:solidFill>
                  <a:latin typeface="Roboto"/>
                  <a:ea typeface="Roboto"/>
                  <a:cs typeface="Roboto"/>
                  <a:sym typeface="Roboto"/>
                </a:rPr>
                <a:t>A4 REPORT</a:t>
              </a:r>
              <a:endParaRPr b="1" sz="1000">
                <a:solidFill>
                  <a:srgbClr val="ADB5B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00">
                  <a:solidFill>
                    <a:srgbClr val="ADB5BD"/>
                  </a:solidFill>
                  <a:latin typeface="Roboto"/>
                  <a:ea typeface="Roboto"/>
                  <a:cs typeface="Roboto"/>
                  <a:sym typeface="Roboto"/>
                </a:rPr>
                <a:t>/pitch/report</a:t>
              </a:r>
              <a:endParaRPr b="0" sz="700">
                <a:solidFill>
                  <a:srgbClr val="ADB5B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97" name="Google Shape;197;p25" title="Agency_report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31348" y="1581304"/>
            <a:ext cx="4095900" cy="3284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6"/>
          <p:cNvPicPr preferRelativeResize="0"/>
          <p:nvPr/>
        </p:nvPicPr>
        <p:blipFill rotWithShape="1">
          <a:blip r:embed="rId4">
            <a:alphaModFix/>
          </a:blip>
          <a:srcRect b="49624" l="0" r="0" t="49624"/>
          <a:stretch/>
        </p:blipFill>
        <p:spPr>
          <a:xfrm>
            <a:off x="142875" y="0"/>
            <a:ext cx="90012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0" y="43815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6"/>
          <p:cNvSpPr/>
          <p:nvPr/>
        </p:nvSpPr>
        <p:spPr>
          <a:xfrm>
            <a:off x="476250" y="607700"/>
            <a:ext cx="40005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6"/>
          <p:cNvSpPr txBox="1"/>
          <p:nvPr/>
        </p:nvSpPr>
        <p:spPr>
          <a:xfrm>
            <a:off x="476250" y="798200"/>
            <a:ext cx="8191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Vesti i komunikacija </a:t>
            </a:r>
            <a:br>
              <a:rPr b="1" lang="en" sz="2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 sz="2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sa građanima</a:t>
            </a:r>
            <a:endParaRPr b="1" sz="26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6"/>
          <p:cNvSpPr txBox="1"/>
          <p:nvPr/>
        </p:nvSpPr>
        <p:spPr>
          <a:xfrm>
            <a:off x="476250" y="1524000"/>
            <a:ext cx="8191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6B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Manje telefonskih poziva – više informisanih </a:t>
            </a:r>
            <a:endParaRPr b="0" sz="1400">
              <a:solidFill>
                <a:srgbClr val="FF6B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građana</a:t>
            </a:r>
            <a:endParaRPr b="0" sz="1400">
              <a:solidFill>
                <a:srgbClr val="FF6B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6"/>
          <p:cNvSpPr txBox="1"/>
          <p:nvPr/>
        </p:nvSpPr>
        <p:spPr>
          <a:xfrm>
            <a:off x="476250" y="2000250"/>
            <a:ext cx="40005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Roboto"/>
              <a:buChar char="●"/>
            </a:pP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Modul za vesti: objave o planiranim radovima, zatvaranjima i privremenim režimima.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1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Roboto"/>
              <a:buChar char="●"/>
            </a:pP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Svaka vest može da bude istaknuta („pinovana“) i zakazana unapred.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1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Roboto"/>
              <a:buChar char="●"/>
            </a:pP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Građani na mapi vide ne samo problem, već i šta će se raditi i kada.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8" name="Google Shape;20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2734054"/>
            <a:ext cx="4572075" cy="2182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6" title="Live_Incidents.jpe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1993" y="625925"/>
            <a:ext cx="1025401" cy="2082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6" title="Warning_RoadMaintenance.jpe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45337" y="625925"/>
            <a:ext cx="1025401" cy="2082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6" title="ViewReportedIncidents.jpe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18675" y="625925"/>
            <a:ext cx="1025401" cy="2082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/>
          <p:nvPr/>
        </p:nvSpPr>
        <p:spPr>
          <a:xfrm>
            <a:off x="142875" y="0"/>
            <a:ext cx="9001200" cy="381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7"/>
          <p:cNvSpPr/>
          <p:nvPr/>
        </p:nvSpPr>
        <p:spPr>
          <a:xfrm>
            <a:off x="476250" y="762000"/>
            <a:ext cx="40005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8" name="Google Shape;218;p27"/>
          <p:cNvGrpSpPr/>
          <p:nvPr/>
        </p:nvGrpSpPr>
        <p:grpSpPr>
          <a:xfrm>
            <a:off x="476250" y="952500"/>
            <a:ext cx="8191500" cy="809775"/>
            <a:chOff x="476250" y="952500"/>
            <a:chExt cx="8191500" cy="809775"/>
          </a:xfrm>
        </p:grpSpPr>
        <p:sp>
          <p:nvSpPr>
            <p:cNvPr id="219" name="Google Shape;219;p27"/>
            <p:cNvSpPr txBox="1"/>
            <p:nvPr/>
          </p:nvSpPr>
          <p:spPr>
            <a:xfrm>
              <a:off x="476250" y="95250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Šta vaša kuća dobija sa ovim sistemom</a:t>
              </a:r>
              <a:endParaRPr b="1" sz="2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0" name="Google Shape;220;p27"/>
            <p:cNvSpPr txBox="1"/>
            <p:nvPr/>
          </p:nvSpPr>
          <p:spPr>
            <a:xfrm>
              <a:off x="476250" y="1476375"/>
              <a:ext cx="819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6B00"/>
                  </a:solidFill>
                  <a:latin typeface="Roboto"/>
                  <a:ea typeface="Roboto"/>
                  <a:cs typeface="Roboto"/>
                  <a:sym typeface="Roboto"/>
                </a:rPr>
                <a:t>Ključne koristi za vaše preduzeće</a:t>
              </a:r>
              <a:endParaRPr b="0" sz="1400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21" name="Google Shape;221;p27"/>
          <p:cNvSpPr txBox="1"/>
          <p:nvPr/>
        </p:nvSpPr>
        <p:spPr>
          <a:xfrm>
            <a:off x="476250" y="2000250"/>
            <a:ext cx="40959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13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 b="0" sz="813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813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Manje izgubljenih prijava – sve je zabeleženo, sa vremenom, lokacijom i slikom.</a:t>
            </a:r>
            <a:endParaRPr b="0" sz="813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813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 b="0" sz="813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813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Brža i preciznija raspodela ekipa i vozila.</a:t>
            </a:r>
            <a:endParaRPr b="0" sz="813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813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 b="0" sz="813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813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Dokazivi rezultati – istorija radova za svaku deonicu uvek dostupna.</a:t>
            </a:r>
            <a:endParaRPr b="0" sz="813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813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 b="0" sz="813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813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Lakša komunikacija sa građanima i nadležnim organima.</a:t>
            </a:r>
            <a:endParaRPr b="0" sz="813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813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 b="0" sz="813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13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Osnova za ozbiljno planiranje budžeta i kapitalnih investicija.</a:t>
            </a:r>
            <a:endParaRPr b="0" sz="813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2" name="Google Shape;22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0" y="43815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7" title="Gemini_Generated_Image_79xwwt79xwwt79x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3075" y="1816690"/>
            <a:ext cx="4419451" cy="2762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/>
          <p:nvPr/>
        </p:nvSpPr>
        <p:spPr>
          <a:xfrm>
            <a:off x="142875" y="0"/>
            <a:ext cx="9001200" cy="381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8"/>
          <p:cNvSpPr/>
          <p:nvPr/>
        </p:nvSpPr>
        <p:spPr>
          <a:xfrm>
            <a:off x="476250" y="762000"/>
            <a:ext cx="40005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8"/>
          <p:cNvSpPr txBox="1"/>
          <p:nvPr/>
        </p:nvSpPr>
        <p:spPr>
          <a:xfrm>
            <a:off x="476250" y="952500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Predlog narednih koraka</a:t>
            </a:r>
            <a:endParaRPr b="1" sz="26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28"/>
          <p:cNvSpPr txBox="1"/>
          <p:nvPr/>
        </p:nvSpPr>
        <p:spPr>
          <a:xfrm>
            <a:off x="476250" y="1714500"/>
            <a:ext cx="40959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b="1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1–2 nedelje:</a:t>
            </a: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zajednički odabir pilot regiona i podešavanje sistema za vaše puteve.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b="1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1 nedelja:</a:t>
            </a: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obuka dispečera, menadžera i terenskih ekipa.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b="1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1 mesec:</a:t>
            </a: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probni rad – prikupljanje podataka i merenje efekata (broj prijava, vreme reakcije).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FF6B0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b="0" lang="en" sz="13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Zajednička analiza rezultata i dogovor oko daljeg širenja na ceo region.</a:t>
            </a:r>
            <a:endParaRPr b="0" sz="13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7825" y="762000"/>
            <a:ext cx="4095900" cy="409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9"/>
          <p:cNvSpPr/>
          <p:nvPr/>
        </p:nvSpPr>
        <p:spPr>
          <a:xfrm>
            <a:off x="142875" y="0"/>
            <a:ext cx="9001200" cy="381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9"/>
          <p:cNvSpPr/>
          <p:nvPr/>
        </p:nvSpPr>
        <p:spPr>
          <a:xfrm>
            <a:off x="476250" y="666750"/>
            <a:ext cx="4000500" cy="381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9"/>
          <p:cNvSpPr txBox="1"/>
          <p:nvPr/>
        </p:nvSpPr>
        <p:spPr>
          <a:xfrm>
            <a:off x="476250" y="857250"/>
            <a:ext cx="819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Hajde da napravimo puteve bezbednijim i održavanje organizovanijim</a:t>
            </a:r>
            <a:endParaRPr b="1" sz="24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29"/>
          <p:cNvSpPr txBox="1"/>
          <p:nvPr/>
        </p:nvSpPr>
        <p:spPr>
          <a:xfrm>
            <a:off x="476250" y="1809750"/>
            <a:ext cx="40005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Roboto"/>
              <a:buChar char="●"/>
            </a:pPr>
            <a:r>
              <a:rPr b="0" lang="en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Sistem je već spreman za rad i prilagođavanje vašem regionu.</a:t>
            </a:r>
            <a:endParaRPr b="0" sz="12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Roboto"/>
              <a:buChar char="●"/>
            </a:pPr>
            <a:r>
              <a:rPr b="0" lang="en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Možemo da krenemo sa jednim pilot područjem i malim brojem ekipa.</a:t>
            </a:r>
            <a:endParaRPr b="0" sz="12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1200"/>
              </a:spcAft>
              <a:buClr>
                <a:srgbClr val="1A1A1A"/>
              </a:buClr>
              <a:buSzPts val="1200"/>
              <a:buFont typeface="Roboto"/>
              <a:buChar char="●"/>
            </a:pPr>
            <a:r>
              <a:rPr b="0" lang="en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Nakon pilota, imate jasne brojke i argumente za dalje odluke.</a:t>
            </a:r>
            <a:endParaRPr b="0" sz="12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41" name="Google Shape;241;p29"/>
          <p:cNvGrpSpPr/>
          <p:nvPr/>
        </p:nvGrpSpPr>
        <p:grpSpPr>
          <a:xfrm>
            <a:off x="476250" y="3619500"/>
            <a:ext cx="4000500" cy="1143000"/>
            <a:chOff x="476250" y="3619500"/>
            <a:chExt cx="4000500" cy="1143000"/>
          </a:xfrm>
        </p:grpSpPr>
        <p:sp>
          <p:nvSpPr>
            <p:cNvPr id="242" name="Google Shape;242;p29"/>
            <p:cNvSpPr/>
            <p:nvPr/>
          </p:nvSpPr>
          <p:spPr>
            <a:xfrm>
              <a:off x="476250" y="3619500"/>
              <a:ext cx="4000500" cy="9600"/>
            </a:xfrm>
            <a:prstGeom prst="rect">
              <a:avLst/>
            </a:prstGeom>
            <a:solidFill>
              <a:srgbClr val="DEE2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9"/>
            <p:cNvSpPr txBox="1"/>
            <p:nvPr/>
          </p:nvSpPr>
          <p:spPr>
            <a:xfrm>
              <a:off x="476250" y="3810000"/>
              <a:ext cx="4000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Camil Plojovic</a:t>
              </a:r>
              <a:endParaRPr b="1" sz="11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95057"/>
                  </a:solidFill>
                  <a:latin typeface="Roboto"/>
                  <a:ea typeface="Roboto"/>
                  <a:cs typeface="Roboto"/>
                  <a:sym typeface="Roboto"/>
                </a:rPr>
                <a:t>Softver inzenjer</a:t>
              </a:r>
              <a:endParaRPr b="0" sz="1100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95057"/>
                  </a:solidFill>
                  <a:latin typeface="Roboto"/>
                  <a:ea typeface="Roboto"/>
                  <a:cs typeface="Roboto"/>
                  <a:sym typeface="Roboto"/>
                </a:rPr>
                <a:t>E-mail: </a:t>
              </a:r>
              <a:r>
                <a:rPr lang="en" sz="1100">
                  <a:solidFill>
                    <a:srgbClr val="495057"/>
                  </a:solidFill>
                  <a:latin typeface="Roboto"/>
                  <a:ea typeface="Roboto"/>
                  <a:cs typeface="Roboto"/>
                  <a:sym typeface="Roboto"/>
                </a:rPr>
                <a:t>cplojovic</a:t>
              </a:r>
              <a:r>
                <a:rPr b="0" lang="en" sz="1100">
                  <a:solidFill>
                    <a:srgbClr val="495057"/>
                  </a:solidFill>
                  <a:latin typeface="Roboto"/>
                  <a:ea typeface="Roboto"/>
                  <a:cs typeface="Roboto"/>
                  <a:sym typeface="Roboto"/>
                </a:rPr>
                <a:t>@</a:t>
              </a:r>
              <a:r>
                <a:rPr lang="en" sz="1100">
                  <a:solidFill>
                    <a:srgbClr val="495057"/>
                  </a:solidFill>
                  <a:latin typeface="Roboto"/>
                  <a:ea typeface="Roboto"/>
                  <a:cs typeface="Roboto"/>
                  <a:sym typeface="Roboto"/>
                </a:rPr>
                <a:t>gmail.</a:t>
              </a:r>
              <a:r>
                <a:rPr b="0" lang="en" sz="1100">
                  <a:solidFill>
                    <a:srgbClr val="495057"/>
                  </a:solidFill>
                  <a:latin typeface="Roboto"/>
                  <a:ea typeface="Roboto"/>
                  <a:cs typeface="Roboto"/>
                  <a:sym typeface="Roboto"/>
                </a:rPr>
                <a:t>rs</a:t>
              </a:r>
              <a:endParaRPr b="0" sz="1100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95057"/>
                  </a:solidFill>
                  <a:latin typeface="Roboto"/>
                  <a:ea typeface="Roboto"/>
                  <a:cs typeface="Roboto"/>
                  <a:sym typeface="Roboto"/>
                </a:rPr>
                <a:t>Telefon: +381 6</a:t>
              </a:r>
              <a:r>
                <a:rPr lang="en" sz="1100">
                  <a:solidFill>
                    <a:srgbClr val="495057"/>
                  </a:solidFill>
                  <a:latin typeface="Roboto"/>
                  <a:ea typeface="Roboto"/>
                  <a:cs typeface="Roboto"/>
                  <a:sym typeface="Roboto"/>
                </a:rPr>
                <a:t>2 308338</a:t>
              </a:r>
              <a:endParaRPr b="0" sz="1100">
                <a:solidFill>
                  <a:srgbClr val="49505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44" name="Google Shape;24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0" y="43815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9" title="Agency_Dashboard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1650" y="1381125"/>
            <a:ext cx="4932352" cy="2571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